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1097280"/>
            <a:ext cx="2743200" cy="3200400"/>
          </a:xfrm>
          <a:prstGeom prst="rect">
            <a:avLst/>
          </a:prstGeom>
          <a:solidFill>
            <a:srgbClr val="0D21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 Alert Intent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3152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Impact | Causal Incrementality | Tradeoff Analysis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Funnel 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Anomaly Detection </a:t>
            </a:r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indent="0" marL="0">
              <a:buNone/>
            </a:pPr>
            <a:r>
              <a:rPr lang="en-US" sz="11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Portfolio Optimization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059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Lift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02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(DiD-adjusted)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051560"/>
            <a:ext cx="192024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1887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8059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Cannibalization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0802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Cross-intent overlap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1887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Decaying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8059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Trajectory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0802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90d lift &lt; 7d lift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051560"/>
            <a:ext cx="1920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1188720"/>
            <a:ext cx="19202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$1.2M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903720" y="180594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20802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Monthly, after cannibalization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2651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301752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incrementality is 1.5% (DiD-adjusted), below the 5.1% naive attribution — 70% of attributed conversions are not truly incremental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PA conversions overlap with Account Balance or Bill Reminder intents — the competing intent messaged first in 61% of these cases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lift decays from +8.2% at 7d to +2.1% at 90d — messaging accelerates payment but doesn't create lasting engagement change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timeout anomaly (8.4% default score rate) and campaign C-4521 takeover (62% share) compound to suppress $340K/mo in otherwise-recoverable revenue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is suboptimal: PA has 3rd-highest marginal revenue per impression but receives 1st-highest impression share — reallocating 5pp to Fraud Detection nets +$180K/mo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Funnel Analysis — Payment Alert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74320" y="1051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645920" y="1051560"/>
            <a:ext cx="822960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4"/>
          <p:cNvSpPr/>
          <p:nvPr/>
        </p:nvSpPr>
        <p:spPr>
          <a:xfrm>
            <a:off x="178308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  (100%)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554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45920" y="1554480"/>
            <a:ext cx="6492240" cy="365760"/>
          </a:xfrm>
          <a:prstGeom prst="rect">
            <a:avLst/>
          </a:prstGeom>
          <a:solidFill>
            <a:srgbClr val="1B6D8F"/>
          </a:solidFill>
          <a:ln/>
        </p:spPr>
      </p:sp>
      <p:sp>
        <p:nvSpPr>
          <p:cNvPr id="10" name="Text 7"/>
          <p:cNvSpPr/>
          <p:nvPr/>
        </p:nvSpPr>
        <p:spPr>
          <a:xfrm>
            <a:off x="1783080" y="15544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1.9M  (79.2%)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45920" y="2057400"/>
            <a:ext cx="6172200" cy="365760"/>
          </a:xfrm>
          <a:prstGeom prst="rect">
            <a:avLst/>
          </a:prstGeom>
          <a:solidFill>
            <a:srgbClr val="1C87A8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2057400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1.8M  (75.0%)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7432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645920" y="2560320"/>
            <a:ext cx="5486400" cy="36576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6" name="Text 13"/>
          <p:cNvSpPr/>
          <p:nvPr/>
        </p:nvSpPr>
        <p:spPr>
          <a:xfrm>
            <a:off x="1783080" y="2560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1.6M  (66.7%)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3063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45920" y="3063240"/>
            <a:ext cx="1645920" cy="3657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9" name="Text 16"/>
          <p:cNvSpPr/>
          <p:nvPr/>
        </p:nvSpPr>
        <p:spPr>
          <a:xfrm>
            <a:off x="1783080" y="3063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480K  (20.0%)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3566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645920" y="3566160"/>
            <a:ext cx="576072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1783080" y="356616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168K  (7.0%)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645920" y="4069080"/>
            <a:ext cx="347472" cy="36576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5" name="Text 22"/>
          <p:cNvSpPr/>
          <p:nvPr/>
        </p:nvSpPr>
        <p:spPr>
          <a:xfrm>
            <a:off x="1783080" y="406908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101K  (4.2%)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" y="4572000"/>
            <a:ext cx="73152" cy="45720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28" name="Text 25"/>
          <p:cNvSpPr/>
          <p:nvPr/>
        </p:nvSpPr>
        <p:spPr>
          <a:xfrm>
            <a:off x="640080" y="45720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20.8% of eligible users are suppressed before send — 38% by competitor priority override, 25% by frequency cap. The largest single drop is Opened (66.7% → 20.0%).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Incrementality — Treatment vs Holdout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vs Causation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Attribution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0" y="1463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0896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Last-touch credit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41148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965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Baseline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0" y="19659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108960" y="1965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conversion rate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2468880"/>
            <a:ext cx="41148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Lift (simple)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286000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108960" y="24688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− holdout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971800"/>
            <a:ext cx="4114800" cy="4114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" y="2971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DiD-Adjusted Lift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86000" y="2971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108960" y="2971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pre-period correction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46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by Propensity Quintile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846320" y="14630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(low)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26480" y="1508760"/>
            <a:ext cx="274320" cy="25603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14630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+0.3%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46320" y="19202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26480" y="1965960"/>
            <a:ext cx="731520" cy="25603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28" name="Text 25"/>
          <p:cNvSpPr/>
          <p:nvPr/>
        </p:nvSpPr>
        <p:spPr>
          <a:xfrm>
            <a:off x="6949440" y="19202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+0.8%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23774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126480" y="2423160"/>
            <a:ext cx="1280160" cy="25603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1" name="Text 28"/>
          <p:cNvSpPr/>
          <p:nvPr/>
        </p:nvSpPr>
        <p:spPr>
          <a:xfrm>
            <a:off x="7498080" y="23774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+1.4%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126480" y="2880360"/>
            <a:ext cx="1920240" cy="25603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4" name="Text 31"/>
          <p:cNvSpPr/>
          <p:nvPr/>
        </p:nvSpPr>
        <p:spPr>
          <a:xfrm>
            <a:off x="8138160" y="28346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6320" y="32918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(high)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126480" y="3337560"/>
            <a:ext cx="2560320" cy="25603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37" name="Text 34"/>
          <p:cNvSpPr/>
          <p:nvPr/>
        </p:nvSpPr>
        <p:spPr>
          <a:xfrm>
            <a:off x="8778240" y="329184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+2.8%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9" name="Shape 36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40" name="Text 37"/>
          <p:cNvSpPr/>
          <p:nvPr/>
        </p:nvSpPr>
        <p:spPr>
          <a:xfrm>
            <a:off x="640080" y="393192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31% of attributed conversions are causally incremental (1.3% DiD lift / 4.2% attributed rate). High-propensity users show 9x more lift than low-propensity — the model is working, but the organic baseline is high.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rigor: holdout n=120K (powered at 0.92 for 0.5pp MDE), all pre-period covariates balanced (|SMD| &lt; 0.05)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Impact — Cannibalization &amp; LTV Effects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Cross-Intent Cannibalization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9319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417320"/>
            <a:ext cx="91440" cy="438912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4173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Incremental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0" y="14173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8C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28,500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3931920" cy="43891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965960"/>
            <a:ext cx="91440" cy="43891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1965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Cannibalized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43200" y="1965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−6,270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2514600"/>
            <a:ext cx="3931920" cy="43891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2514600"/>
            <a:ext cx="91440" cy="43891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5146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Incremental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0" y="251460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22,230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7200" y="3063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cannibalizing intents: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 Alert — 42% overlap, sent first in 68% of cases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Reminder — 22% overlap, high click rate on competing message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LTV Lift Trajectory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84632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35040" y="1572768"/>
            <a:ext cx="2743200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3" name="Text 20"/>
          <p:cNvSpPr/>
          <p:nvPr/>
        </p:nvSpPr>
        <p:spPr>
          <a:xfrm>
            <a:off x="886968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+8.2%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46320" y="21031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2167128"/>
            <a:ext cx="155448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0" y="2103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+4.7%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6320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035040" y="2761488"/>
            <a:ext cx="731520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0" y="26974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+2.1%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DECAYING</a:t>
            </a:r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74% of 7-day lift erodes by 90 days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4632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Fatigue Signals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846320" y="397764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 excess: +0.08pp (treatment vs holdout)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rate decay slope: −0.3pp/week (accelerating fatigue)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payment rate: 34% (treatment) vs 31% (holdout) — modest positive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Tradeoffs — Priority &amp; Channel Allocation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 Value Ranking (Pareto Frontier)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097280"/>
                <a:gridCol w="1371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Rev/Imp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Fraud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$0.082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8449"/>
                          </a:solidFill>
                        </a:rPr>
                        <a:t>▲ Under-allocated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Credit Offer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$0.071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8449"/>
                          </a:solidFill>
                        </a:rPr>
                        <a:t>▲ Under-allocated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Payment Alert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</a:rPr>
                        <a:t>$0.054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▼ Over-allocated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Account Balance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</a:rPr>
                        <a:t>$0.048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— Neutral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Bill Reminder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</a:rPr>
                        <a:t>$0.039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▼ Over-allocated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Reallocation Scenario: −5pp PA → +5pp Fraud Detection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57200" y="37947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457200" y="3794760"/>
            <a:ext cx="192024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3931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180K/mo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457200" y="4398264"/>
            <a:ext cx="19202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Moved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6040" y="37947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606040" y="379476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0"/>
          <p:cNvSpPr/>
          <p:nvPr/>
        </p:nvSpPr>
        <p:spPr>
          <a:xfrm>
            <a:off x="2606040" y="3931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−2,430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2606040" y="4398264"/>
            <a:ext cx="19202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Conv Lost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37947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54880" y="3794760"/>
            <a:ext cx="192024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4"/>
          <p:cNvSpPr/>
          <p:nvPr/>
        </p:nvSpPr>
        <p:spPr>
          <a:xfrm>
            <a:off x="4754880" y="3931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+3,690</a:t>
            </a:r>
            <a:endParaRPr lang="en-US" sz="2800" dirty="0"/>
          </a:p>
        </p:txBody>
      </p:sp>
      <p:sp>
        <p:nvSpPr>
          <p:cNvPr id="19" name="Text 15"/>
          <p:cNvSpPr/>
          <p:nvPr/>
        </p:nvSpPr>
        <p:spPr>
          <a:xfrm>
            <a:off x="4754880" y="4398264"/>
            <a:ext cx="19202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Conv Gained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903720" y="3794760"/>
            <a:ext cx="19202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03720" y="3794760"/>
            <a:ext cx="192024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2" name="Text 18"/>
          <p:cNvSpPr/>
          <p:nvPr/>
        </p:nvSpPr>
        <p:spPr>
          <a:xfrm>
            <a:off x="6903720" y="3931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+$184K/mo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6903720" y="4398264"/>
            <a:ext cx="19202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&amp; Channel Efficiency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Messaging Frequency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18872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Msgs/Week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Fatigue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$0.068 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3 (current)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$0.059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22%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41%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</a:rPr>
                        <a:t>63%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Optimal: 2 msgs/user/week (current: 3). Reducing frequency by 1 recovers $0.009 marginal value and cuts fatigue cost in half.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846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Unit Economics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417320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91440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5.1%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128x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Push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380x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In-App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$0.003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1,850x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84632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Segment-Level Frequency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users: increase to 3/week (low fatigue sensitivity)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users: maintain at 2/week (baseline)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users: decrease to 1/week (high fatigue risk)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users: decrease to 1.5/week (moderate fatigue risk)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3" name="Shape 8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tradeoff: reducing frequency from 3→2/week loses ~8% of conversions but recovers 50% of fatigue cost. Health-adjusted LTV improves by +$0.12/user/quarter.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Events — Root Causes &amp; Ecosystem Cost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69748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05840"/>
            <a:ext cx="26974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Propensity Score Drift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PSI: 0.18 (push)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p &lt; 0.001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 users/day misclassified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Cost: $95K/mo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v3.2 feature encoding shifted high-propensity deciles downward by 0.08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46120" y="1005840"/>
            <a:ext cx="269748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05840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Platform Timeout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8328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rate: 8.4%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latency: 6.2s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 gap: −2.5pp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Cost: $340K/mo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83280" y="2880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8328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service under-provisioned for 10-11am peak; no circuit breaker or cached fallback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72200" y="1005840"/>
            <a:ext cx="2697480" cy="34747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1005840"/>
            <a:ext cx="269748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Takeover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09360" y="15087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C-4521: 62%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HHI: 0.42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consecutive days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309360" y="2514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Est. Cost: $120K/mo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309360" y="288036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0" y="306324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per-campaign impression cap; P1 priority override preempted 8 smaller campaigns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0040" y="4617720"/>
            <a:ext cx="8458200" cy="41148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27" name="Shape 24"/>
          <p:cNvSpPr/>
          <p:nvPr/>
        </p:nvSpPr>
        <p:spPr>
          <a:xfrm>
            <a:off x="320040" y="4617720"/>
            <a:ext cx="73152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461772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anomaly cost: $555K/mo. Timeout is the highest-ROI fix — one infrastructure change recovers 61% of total anomaly cost.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371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— Prioritized by Net Ecosystem Value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51560"/>
            <a:ext cx="2697480" cy="3383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51560"/>
            <a:ext cx="2697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(This Sprint)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scoring auto-scaler + circuit breaker for ML timeout ($340K/mo recovery)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40% per-campaign impression cap to prevent takeover ($120K/mo recovery)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frequency from 3→2/week for dormant &amp; at-risk segments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697480" cy="3383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1051560"/>
            <a:ext cx="2697480" cy="5486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8"/>
          <p:cNvSpPr/>
          <p:nvPr/>
        </p:nvSpPr>
        <p:spPr>
          <a:xfrm>
            <a:off x="338328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(30 Days)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83280" y="164592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push propensity model v3.2 or roll back to v3.1 ($95K/mo recovery)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portfolio: shift 5pp from PA → Fraud Detection (+$184K/mo net)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 PA vs Account Balance targeting overlap (−22% cannibalization)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72200" y="1051560"/>
            <a:ext cx="2697480" cy="3383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051560"/>
            <a:ext cx="2697480" cy="54864"/>
          </a:xfrm>
          <a:prstGeom prst="rect">
            <a:avLst/>
          </a:prstGeom>
          <a:solidFill>
            <a:srgbClr val="0E8C7F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0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(Q2-Q3)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09360" y="164592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PSI drift monitor + auto-rollback trigger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portfolio-level objective: maximize user-level conversion, not intent-level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health-adjusted LTV metric as north star (incorporating fatigue penalty)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recoverable impact: $739K/mo from anomaly fixes + $184K/mo from portfolio rebalance = $923K/mo ecosystem value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Alert Intent — Root Cause Analysis &amp; Ecosystem Impact</dc:title>
  <dc:subject>PptxGenJS Presentation</dc:subject>
  <dc:creator>Messaging Analytics Team</dc:creator>
  <cp:lastModifiedBy>Messaging Analytics Team</cp:lastModifiedBy>
  <cp:revision>1</cp:revision>
  <dcterms:created xsi:type="dcterms:W3CDTF">2026-03-30T21:46:23Z</dcterms:created>
  <dcterms:modified xsi:type="dcterms:W3CDTF">2026-03-30T21:46:23Z</dcterms:modified>
</cp:coreProperties>
</file>